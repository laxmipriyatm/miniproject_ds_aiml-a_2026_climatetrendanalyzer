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86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>
        <p:scale>
          <a:sx n="118" d="100"/>
          <a:sy n="118" d="100"/>
        </p:scale>
        <p:origin x="72" y="8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4952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00384-D459-DD55-C55F-BC6701AD2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ACCC76-C86F-D68B-A862-E530B92F9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33EA3E-8044-3F02-3003-4EDFC45BC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2395C-B16C-2A94-E852-8A29C5A5AD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27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1BA8A0">
              <a:alpha val="20000"/>
            </a:srgbClr>
          </a:solidFill>
          <a:ln w="12700">
            <a:solidFill>
              <a:srgbClr val="1BA8A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371600"/>
            <a:ext cx="109728" cy="1463040"/>
          </a:xfrm>
          <a:prstGeom prst="rect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920240"/>
            <a:ext cx="54864" cy="640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972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ClimateTrend Analyzer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Long-Term Climate Change Patterns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697480"/>
            <a:ext cx="5943600" cy="0"/>
          </a:xfrm>
          <a:prstGeom prst="line">
            <a:avLst/>
          </a:prstGeom>
          <a:noFill/>
          <a:ln w="10160">
            <a:solidFill>
              <a:srgbClr val="8BAE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49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Atchaya P (RA2311026050014)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Laxmi Priya T M (RA2311026050018)      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4297680"/>
            <a:ext cx="1371600" cy="320040"/>
          </a:xfrm>
          <a:prstGeom prst="rect">
            <a:avLst/>
          </a:prstGeom>
          <a:solidFill>
            <a:srgbClr val="1A4A7A"/>
          </a:solidFill>
          <a:ln w="10160">
            <a:solidFill>
              <a:srgbClr val="1BA8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297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77440" y="4297680"/>
            <a:ext cx="1371600" cy="320040"/>
          </a:xfrm>
          <a:prstGeom prst="rect">
            <a:avLst/>
          </a:prstGeom>
          <a:solidFill>
            <a:srgbClr val="1A4A7A"/>
          </a:solidFill>
          <a:ln w="10160">
            <a:solidFill>
              <a:srgbClr val="1BA8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4297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931920" y="4297680"/>
            <a:ext cx="1371600" cy="320040"/>
          </a:xfrm>
          <a:prstGeom prst="rect">
            <a:avLst/>
          </a:prstGeom>
          <a:solidFill>
            <a:srgbClr val="1A4A7A"/>
          </a:solidFill>
          <a:ln w="10160">
            <a:solidFill>
              <a:srgbClr val="1BA8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4297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4297680"/>
            <a:ext cx="1371600" cy="320040"/>
          </a:xfrm>
          <a:prstGeom prst="rect">
            <a:avLst/>
          </a:prstGeom>
          <a:solidFill>
            <a:srgbClr val="1A4A7A"/>
          </a:solidFill>
          <a:ln w="10160">
            <a:solidFill>
              <a:srgbClr val="1BA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4297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40880" y="4297680"/>
            <a:ext cx="1371600" cy="320040"/>
          </a:xfrm>
          <a:prstGeom prst="rect">
            <a:avLst/>
          </a:prstGeom>
          <a:solidFill>
            <a:srgbClr val="1A4A7A"/>
          </a:solidFill>
          <a:ln w="10160">
            <a:solidFill>
              <a:srgbClr val="1B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4297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74320"/>
            <a:ext cx="54864" cy="384048"/>
          </a:xfrm>
          <a:prstGeom prst="rect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5603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8321040" cy="0"/>
          </a:xfrm>
          <a:prstGeom prst="line">
            <a:avLst/>
          </a:prstGeom>
          <a:noFill/>
          <a:ln w="6350">
            <a:solidFill>
              <a:srgbClr val="8BAEC8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411480" y="941832"/>
            <a:ext cx="384048" cy="347472"/>
          </a:xfrm>
          <a:prstGeom prst="rect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4183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8961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15214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climate change analysis matters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490472"/>
            <a:ext cx="384048" cy="347472"/>
          </a:xfrm>
          <a:prstGeom prst="rect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4904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14447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Source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170078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GISS + NOAA Mauna Loa data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039112"/>
            <a:ext cx="384048" cy="347472"/>
          </a:xfrm>
          <a:prstGeom prst="rect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0391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19933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24942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workflow: collect → clean → analyze → model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587752"/>
            <a:ext cx="384048" cy="347472"/>
          </a:xfrm>
          <a:prstGeom prst="rect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5877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25420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Key Findings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27980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anomalies, correlation insights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136392"/>
            <a:ext cx="384048" cy="347472"/>
          </a:xfrm>
          <a:prstGeom prst="rect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1363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30906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334670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charts revealing climate patterns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3685032"/>
            <a:ext cx="384048" cy="347472"/>
          </a:xfrm>
          <a:prstGeom prst="rect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68503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" y="36393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389534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regression, R²=0.95, 20-yr forecast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4233672"/>
            <a:ext cx="384048" cy="347472"/>
          </a:xfrm>
          <a:prstGeom prst="rect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2336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0120" y="41879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60120" y="444398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future scope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54864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3774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"Climate change is the most complex, far-reaching problem humanity has ever faced. Yet without proper data analysis, trends remain invisible."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965960"/>
            <a:ext cx="2697480" cy="2560320"/>
          </a:xfrm>
          <a:prstGeom prst="rect">
            <a:avLst/>
          </a:prstGeom>
          <a:solidFill>
            <a:srgbClr val="1A4A7A"/>
          </a:solidFill>
          <a:ln w="635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965960"/>
            <a:ext cx="269748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20848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Temperatures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" y="2487168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 temp up ~1.1°C since pre-industrial era. Pattern detection requires 140+ years of data.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87268" y="1965960"/>
            <a:ext cx="2697480" cy="2560320"/>
          </a:xfrm>
          <a:prstGeom prst="rect">
            <a:avLst/>
          </a:prstGeom>
          <a:solidFill>
            <a:srgbClr val="1A4A7A"/>
          </a:solidFill>
          <a:ln w="635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965960"/>
            <a:ext cx="269748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20848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Surge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01568" y="2487168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levels at 420+ ppm (2024), highest in 800,000 years. Strong link to warming needs quantification.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1965960"/>
            <a:ext cx="2697480" cy="2560320"/>
          </a:xfrm>
          <a:prstGeom prst="rect">
            <a:avLst/>
          </a:prstGeom>
          <a:solidFill>
            <a:srgbClr val="1A4A7A"/>
          </a:solidFill>
          <a:ln w="635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965960"/>
            <a:ext cx="269748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20848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Prediction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81928" y="2487168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forecasting models, future impact is unknown. ML can project trajectories to guide policy.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74320"/>
            <a:ext cx="54864" cy="384048"/>
          </a:xfrm>
          <a:prstGeom prst="rect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5603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Source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8321040" cy="0"/>
          </a:xfrm>
          <a:prstGeom prst="line">
            <a:avLst/>
          </a:prstGeom>
          <a:noFill/>
          <a:ln w="6350">
            <a:solidFill>
              <a:srgbClr val="8BAEC8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411480" y="914400"/>
            <a:ext cx="47548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914400"/>
            <a:ext cx="73152" cy="1143000"/>
          </a:xfrm>
          <a:prstGeom prst="rect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875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GISS GISTEMP v4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26187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Temperature Anomaly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4630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1880–2024  |  Columns: Year, Temp_Anomaly (°C)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212848"/>
            <a:ext cx="47548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212848"/>
            <a:ext cx="73152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86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Mauna Loa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56032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CO₂ Concentration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7614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1958–2024  |  Columns: Year, CO2_ppm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511296"/>
            <a:ext cx="47548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511296"/>
            <a:ext cx="73152" cy="114300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5844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385876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Global Rainfall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405993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1960–2020  |  Columns: Year, Rainfall_mm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32120" y="960120"/>
            <a:ext cx="1600200" cy="1417320"/>
          </a:xfrm>
          <a:prstGeom prst="rect">
            <a:avLst/>
          </a:prstGeom>
          <a:solidFill>
            <a:srgbClr val="0B1F4B"/>
          </a:solidFill>
          <a:ln w="635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32120" y="12801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532120" y="18288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Data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15200" y="960120"/>
            <a:ext cx="1600200" cy="1417320"/>
          </a:xfrm>
          <a:prstGeom prst="rect">
            <a:avLst/>
          </a:prstGeom>
          <a:solidFill>
            <a:srgbClr val="0B1F4B"/>
          </a:solidFill>
          <a:ln w="635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0" y="12801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315200" y="18288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532120" y="2697480"/>
            <a:ext cx="1600200" cy="1417320"/>
          </a:xfrm>
          <a:prstGeom prst="rect">
            <a:avLst/>
          </a:prstGeom>
          <a:solidFill>
            <a:srgbClr val="0B1F4B"/>
          </a:solidFill>
          <a:ln w="635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532120" y="30175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5532120" y="35661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315200" y="2697480"/>
            <a:ext cx="1600200" cy="1417320"/>
          </a:xfrm>
          <a:prstGeom prst="rect">
            <a:avLst/>
          </a:prstGeom>
          <a:solidFill>
            <a:srgbClr val="0B1F4B"/>
          </a:solidFill>
          <a:ln w="635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315200" y="30175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315200" y="35661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Type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74320"/>
            <a:ext cx="54864" cy="384048"/>
          </a:xfrm>
          <a:prstGeom prst="rect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5603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Methodology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8321040" cy="0"/>
          </a:xfrm>
          <a:prstGeom prst="line">
            <a:avLst/>
          </a:prstGeom>
          <a:noFill/>
          <a:ln w="6350">
            <a:solidFill>
              <a:srgbClr val="8BAEC8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984248" y="2103120"/>
            <a:ext cx="100584" cy="0"/>
          </a:xfrm>
          <a:prstGeom prst="line">
            <a:avLst/>
          </a:prstGeom>
          <a:noFill/>
          <a:ln w="15240">
            <a:solidFill>
              <a:srgbClr val="8BAE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53262"/>
            <a:ext cx="1508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886968"/>
            <a:ext cx="1508760" cy="164592"/>
          </a:xfrm>
          <a:prstGeom prst="rect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188720"/>
            <a:ext cx="594360" cy="594360"/>
          </a:xfrm>
          <a:prstGeom prst="ellipse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4632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423160"/>
            <a:ext cx="1325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NASA, NOAA, World Bank CSV downloads. Merge by Year.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0" y="2103120"/>
            <a:ext cx="100584" cy="0"/>
          </a:xfrm>
          <a:prstGeom prst="line">
            <a:avLst/>
          </a:prstGeom>
          <a:noFill/>
          <a:ln w="15240">
            <a:solidFill>
              <a:srgbClr val="8BAE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84832" y="886968"/>
            <a:ext cx="1508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84832" y="886968"/>
            <a:ext cx="1508760" cy="164592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42032" y="1188720"/>
            <a:ext cx="594360" cy="594360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42032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157984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76272" y="2423160"/>
            <a:ext cx="1325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nulls (mean-fill), fix dtypes, engineer Decade / RollingMean / AnomalyFlag.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30952" y="2103120"/>
            <a:ext cx="100584" cy="0"/>
          </a:xfrm>
          <a:prstGeom prst="line">
            <a:avLst/>
          </a:prstGeom>
          <a:noFill/>
          <a:ln w="15240">
            <a:solidFill>
              <a:srgbClr val="8BAE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58184" y="886968"/>
            <a:ext cx="1508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58184" y="886968"/>
            <a:ext cx="1508760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15384" y="1188720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15384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831336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849624" y="2423160"/>
            <a:ext cx="1325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Stats, correlation matrix, distributions, outlier boxplots.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004304" y="2103120"/>
            <a:ext cx="100584" cy="0"/>
          </a:xfrm>
          <a:prstGeom prst="line">
            <a:avLst/>
          </a:prstGeom>
          <a:noFill/>
          <a:ln w="15240">
            <a:solidFill>
              <a:srgbClr val="8BAEC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31536" y="886968"/>
            <a:ext cx="1508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31536" y="886968"/>
            <a:ext cx="1508760" cy="164592"/>
          </a:xfrm>
          <a:prstGeom prst="rect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88736" y="1188720"/>
            <a:ext cx="594360" cy="594360"/>
          </a:xfrm>
          <a:prstGeom prst="ellipse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88736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04688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522976" y="2423160"/>
            <a:ext cx="1325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charts: trend lines, scatter, anomaly detection, heatmap, forecast.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104888" y="886968"/>
            <a:ext cx="1508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04888" y="886968"/>
            <a:ext cx="1508760" cy="164592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62088" y="1188720"/>
            <a:ext cx="594360" cy="594360"/>
          </a:xfrm>
          <a:prstGeom prst="ellipse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62088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178040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196328" y="2423160"/>
            <a:ext cx="1325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Polynomial Regression. 80/20 split. Evaluate MAE, RMSE, R².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54864" cy="411480"/>
          </a:xfrm>
          <a:prstGeom prst="rect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3774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Key Findings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3511296"/>
            <a:ext cx="54864" cy="54864"/>
          </a:xfrm>
          <a:prstGeom prst="ellipse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3538728"/>
            <a:ext cx="54864" cy="54864"/>
          </a:xfrm>
          <a:prstGeom prst="ellipse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3538728"/>
            <a:ext cx="256032" cy="27432"/>
          </a:xfrm>
          <a:prstGeom prst="line">
            <a:avLst/>
          </a:prstGeom>
          <a:noFill/>
          <a:ln w="19050">
            <a:solidFill>
              <a:srgbClr val="1BA8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3483864"/>
            <a:ext cx="54864" cy="54864"/>
          </a:xfrm>
          <a:prstGeom prst="ellipse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" y="3566160"/>
            <a:ext cx="256032" cy="0"/>
          </a:xfrm>
          <a:prstGeom prst="line">
            <a:avLst/>
          </a:prstGeom>
          <a:noFill/>
          <a:ln w="19050">
            <a:solidFill>
              <a:srgbClr val="1BA8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16736" y="3593592"/>
            <a:ext cx="54864" cy="54864"/>
          </a:xfrm>
          <a:prstGeom prst="ellipse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8136" y="3511296"/>
            <a:ext cx="256032" cy="109728"/>
          </a:xfrm>
          <a:prstGeom prst="line">
            <a:avLst/>
          </a:prstGeom>
          <a:noFill/>
          <a:ln w="19050">
            <a:solidFill>
              <a:srgbClr val="1BA8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72768" y="3429000"/>
            <a:ext cx="54864" cy="54864"/>
          </a:xfrm>
          <a:prstGeom prst="ellipse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44168" y="3621024"/>
            <a:ext cx="256032" cy="0"/>
          </a:xfrm>
          <a:prstGeom prst="line">
            <a:avLst/>
          </a:prstGeom>
          <a:noFill/>
          <a:ln w="19050">
            <a:solidFill>
              <a:srgbClr val="1BA8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3374136"/>
            <a:ext cx="54864" cy="54864"/>
          </a:xfrm>
          <a:prstGeom prst="ellipse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0200" y="3456432"/>
            <a:ext cx="256032" cy="0"/>
          </a:xfrm>
          <a:prstGeom prst="line">
            <a:avLst/>
          </a:prstGeom>
          <a:noFill/>
          <a:ln w="19050">
            <a:solidFill>
              <a:srgbClr val="1BA8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84832" y="3291840"/>
            <a:ext cx="54864" cy="54864"/>
          </a:xfrm>
          <a:prstGeom prst="ellipse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56232" y="3401568"/>
            <a:ext cx="256032" cy="0"/>
          </a:xfrm>
          <a:prstGeom prst="line">
            <a:avLst/>
          </a:prstGeom>
          <a:noFill/>
          <a:ln w="19050">
            <a:solidFill>
              <a:srgbClr val="1BA8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40864" y="3236976"/>
            <a:ext cx="54864" cy="54864"/>
          </a:xfrm>
          <a:prstGeom prst="ellipse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12264" y="3319272"/>
            <a:ext cx="256032" cy="0"/>
          </a:xfrm>
          <a:prstGeom prst="line">
            <a:avLst/>
          </a:prstGeom>
          <a:noFill/>
          <a:ln w="19050">
            <a:solidFill>
              <a:srgbClr val="1BA8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96896" y="3072384"/>
            <a:ext cx="54864" cy="54864"/>
          </a:xfrm>
          <a:prstGeom prst="ellipse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68296" y="3264408"/>
            <a:ext cx="256032" cy="0"/>
          </a:xfrm>
          <a:prstGeom prst="line">
            <a:avLst/>
          </a:prstGeom>
          <a:noFill/>
          <a:ln w="19050">
            <a:solidFill>
              <a:srgbClr val="1BA8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52928" y="2880360"/>
            <a:ext cx="54864" cy="54864"/>
          </a:xfrm>
          <a:prstGeom prst="ellipse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24328" y="3099816"/>
            <a:ext cx="256032" cy="0"/>
          </a:xfrm>
          <a:prstGeom prst="line">
            <a:avLst/>
          </a:prstGeom>
          <a:noFill/>
          <a:ln w="19050">
            <a:solidFill>
              <a:srgbClr val="1BA8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08960" y="2743200"/>
            <a:ext cx="54864" cy="54864"/>
          </a:xfrm>
          <a:prstGeom prst="ellipse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80360" y="2907792"/>
            <a:ext cx="256032" cy="0"/>
          </a:xfrm>
          <a:prstGeom prst="line">
            <a:avLst/>
          </a:prstGeom>
          <a:noFill/>
          <a:ln w="19050">
            <a:solidFill>
              <a:srgbClr val="1BA8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64992" y="2523744"/>
            <a:ext cx="54864" cy="54864"/>
          </a:xfrm>
          <a:prstGeom prst="ellipse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36392" y="2770632"/>
            <a:ext cx="256032" cy="0"/>
          </a:xfrm>
          <a:prstGeom prst="line">
            <a:avLst/>
          </a:prstGeom>
          <a:noFill/>
          <a:ln w="19050">
            <a:solidFill>
              <a:srgbClr val="1BA8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21024" y="2194560"/>
            <a:ext cx="54864" cy="54864"/>
          </a:xfrm>
          <a:prstGeom prst="ellipse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92424" y="2551176"/>
            <a:ext cx="256032" cy="0"/>
          </a:xfrm>
          <a:prstGeom prst="line">
            <a:avLst/>
          </a:prstGeom>
          <a:noFill/>
          <a:ln w="19050">
            <a:solidFill>
              <a:srgbClr val="1BA8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77056" y="1920240"/>
            <a:ext cx="54864" cy="54864"/>
          </a:xfrm>
          <a:prstGeom prst="ellipse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48456" y="2221992"/>
            <a:ext cx="256032" cy="0"/>
          </a:xfrm>
          <a:prstGeom prst="line">
            <a:avLst/>
          </a:prstGeom>
          <a:noFill/>
          <a:ln w="19050">
            <a:solidFill>
              <a:srgbClr val="1BA8A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33088" y="1591056"/>
            <a:ext cx="54864" cy="54864"/>
          </a:xfrm>
          <a:prstGeom prst="ellipse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04488" y="1947672"/>
            <a:ext cx="256032" cy="0"/>
          </a:xfrm>
          <a:prstGeom prst="line">
            <a:avLst/>
          </a:prstGeom>
          <a:noFill/>
          <a:ln w="19050">
            <a:solidFill>
              <a:srgbClr val="1BA8A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89120" y="1371600"/>
            <a:ext cx="54864" cy="54864"/>
          </a:xfrm>
          <a:prstGeom prst="ellipse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60520" y="1618488"/>
            <a:ext cx="256032" cy="0"/>
          </a:xfrm>
          <a:prstGeom prst="line">
            <a:avLst/>
          </a:prstGeom>
          <a:noFill/>
          <a:ln w="19050">
            <a:solidFill>
              <a:srgbClr val="1BA8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931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Trend Simulation (1880→2024)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937760" y="861709"/>
            <a:ext cx="3749040" cy="530352"/>
          </a:xfrm>
          <a:prstGeom prst="rect">
            <a:avLst/>
          </a:prstGeom>
          <a:solidFill>
            <a:srgbClr val="1A4A7A"/>
          </a:solidFill>
          <a:ln w="3810">
            <a:solidFill>
              <a:srgbClr val="1BA8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74920" y="9601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+1.1°C rise since 1880, accelerating post-1980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937760" y="1554480"/>
            <a:ext cx="3749040" cy="530352"/>
          </a:xfrm>
          <a:prstGeom prst="rect">
            <a:avLst/>
          </a:prstGeom>
          <a:solidFill>
            <a:srgbClr val="1A4A7A"/>
          </a:solidFill>
          <a:ln w="3810">
            <a:solidFill>
              <a:srgbClr val="1BA8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4920" y="162763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 CO₂ climbed from 280ppm (1880) → 421ppm (2024)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937760" y="2221992"/>
            <a:ext cx="3749040" cy="530352"/>
          </a:xfrm>
          <a:prstGeom prst="rect">
            <a:avLst/>
          </a:prstGeom>
          <a:solidFill>
            <a:srgbClr val="1A4A7A"/>
          </a:solidFill>
          <a:ln w="3810">
            <a:solidFill>
              <a:srgbClr val="1BA8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4920" y="229514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CO₂ ↔ Temperature correlation r = 0.97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937760" y="2889504"/>
            <a:ext cx="3749040" cy="530352"/>
          </a:xfrm>
          <a:prstGeom prst="rect">
            <a:avLst/>
          </a:prstGeom>
          <a:solidFill>
            <a:srgbClr val="1A4A7A"/>
          </a:solidFill>
          <a:ln w="3810">
            <a:solidFill>
              <a:srgbClr val="1BA8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74920" y="296265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38 anomaly years detected (Temp &gt; +0.5°C), 36 after 1980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937760" y="3557016"/>
            <a:ext cx="3749040" cy="530352"/>
          </a:xfrm>
          <a:prstGeom prst="rect">
            <a:avLst/>
          </a:prstGeom>
          <a:solidFill>
            <a:srgbClr val="1A4A7A"/>
          </a:solidFill>
          <a:ln w="3810">
            <a:solidFill>
              <a:srgbClr val="1BA8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74920" y="36301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Each decade warmer than the last since 1980s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937760" y="4224528"/>
            <a:ext cx="3749040" cy="530352"/>
          </a:xfrm>
          <a:prstGeom prst="rect">
            <a:avLst/>
          </a:prstGeom>
          <a:solidFill>
            <a:srgbClr val="1A4A7A"/>
          </a:solidFill>
          <a:ln w="3810">
            <a:solidFill>
              <a:srgbClr val="1BA8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74920" y="42976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🌧️  Rainfall variability increased 18% post-2000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74320"/>
            <a:ext cx="54864" cy="384048"/>
          </a:xfrm>
          <a:prstGeom prst="rect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5603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Generated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8321040" cy="0"/>
          </a:xfrm>
          <a:prstGeom prst="line">
            <a:avLst/>
          </a:prstGeom>
          <a:noFill/>
          <a:ln w="6350">
            <a:solidFill>
              <a:srgbClr val="8BAEC8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411480" y="886968"/>
            <a:ext cx="2697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886968"/>
            <a:ext cx="475488" cy="118872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98448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78408" y="10515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Trend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78408" y="138988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anomaly + 5-yr rolling mean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886968"/>
            <a:ext cx="2697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886968"/>
            <a:ext cx="475488" cy="118872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298448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58768" y="10515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Trend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58768" y="138988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chart: ppm rise since 1958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72200" y="886968"/>
            <a:ext cx="2697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886968"/>
            <a:ext cx="475488" cy="118872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298448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39128" y="10515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vs Temperature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39128" y="138988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colored by year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2231136"/>
            <a:ext cx="2697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2231136"/>
            <a:ext cx="475488" cy="118872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642616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78408" y="239572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78408" y="2734056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Red=extreme, green=normal years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91840" y="2231136"/>
            <a:ext cx="2697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91840" y="2231136"/>
            <a:ext cx="475488" cy="118872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2642616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58768" y="239572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 Average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858768" y="2734056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chart: warm/cool decades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72200" y="2231136"/>
            <a:ext cx="2697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2231136"/>
            <a:ext cx="475488" cy="118872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2642616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39128" y="239572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39128" y="2734056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 matrix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1480" y="3575304"/>
            <a:ext cx="2697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11480" y="3575304"/>
            <a:ext cx="475488" cy="118872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986784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78408" y="373989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Trend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78408" y="407822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precipitation line chart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91840" y="3575304"/>
            <a:ext cx="2697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91840" y="3575304"/>
            <a:ext cx="475488" cy="118872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0" y="3986784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858768" y="373989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Predictions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858768" y="407822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 + 20-yr forecast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172200" y="3575304"/>
            <a:ext cx="2697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72200" y="3575304"/>
            <a:ext cx="475488" cy="118872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3986784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#09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739128" y="373989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Analysis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739128" y="407822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quality diagnostics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54864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3774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25196" y="856066"/>
            <a:ext cx="3749040" cy="2926080"/>
          </a:xfrm>
          <a:prstGeom prst="rect">
            <a:avLst/>
          </a:prstGeom>
          <a:solidFill>
            <a:srgbClr val="1A4A7A"/>
          </a:solidFill>
          <a:ln w="635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868680"/>
            <a:ext cx="3749040" cy="10972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04872" y="1065276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76072" y="1005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75688" y="1563624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2"/>
            <a:r>
              <a:rPr lang="en-US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0.08°C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594360" y="2286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57400" y="22494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2"/>
            <a:r>
              <a:rPr lang="en-US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0.10°C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436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57400" y="29352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2"/>
            <a:r>
              <a:rPr lang="en-US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0" y="856066"/>
            <a:ext cx="3749040" cy="2926080"/>
          </a:xfrm>
          <a:prstGeom prst="rect">
            <a:avLst/>
          </a:prstGeom>
          <a:solidFill>
            <a:srgbClr val="1A4A7A"/>
          </a:solidFill>
          <a:ln w="635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868680"/>
            <a:ext cx="3749040" cy="109728"/>
          </a:xfrm>
          <a:prstGeom prst="rect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10058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36592" y="1005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Regression (d=2)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15636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2"/>
            <a:r>
              <a:rPr lang="en-US" b="1" dirty="0">
                <a:solidFill>
                  <a:srgbClr val="1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0.05°C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54880" y="2286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22494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2"/>
            <a:r>
              <a:rPr lang="en-US" b="1" dirty="0">
                <a:solidFill>
                  <a:srgbClr val="1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0.07°C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5488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29352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2"/>
            <a:r>
              <a:rPr lang="en-US" b="1" dirty="0">
                <a:solidFill>
                  <a:srgbClr val="1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11480" y="3977640"/>
            <a:ext cx="8321040" cy="658368"/>
          </a:xfrm>
          <a:prstGeom prst="rect">
            <a:avLst/>
          </a:prstGeom>
          <a:solidFill>
            <a:srgbClr val="1A4A7A"/>
          </a:solidFill>
          <a:ln w="10160">
            <a:solidFill>
              <a:srgbClr val="1BA8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04164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20-Year Forecast (2025–2044): Temperature anomaly projected to reach +1.6°C to +2.0°C — consistent with IPCC AR6 projections for moderate emission scenarios.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74320"/>
            <a:ext cx="54864" cy="384048"/>
          </a:xfrm>
          <a:prstGeom prst="rect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5603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Project Structure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8321040" cy="0"/>
          </a:xfrm>
          <a:prstGeom prst="line">
            <a:avLst/>
          </a:prstGeom>
          <a:noFill/>
          <a:ln w="6350">
            <a:solidFill>
              <a:srgbClr val="8BAEC8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411480" y="932688"/>
            <a:ext cx="1965960" cy="502920"/>
          </a:xfrm>
          <a:prstGeom prst="rect">
            <a:avLst/>
          </a:prstGeom>
          <a:solidFill>
            <a:srgbClr val="0B1F4B"/>
          </a:solidFill>
          <a:ln w="7620">
            <a:solidFill>
              <a:srgbClr val="1BA8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96926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3.9+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4632" y="12070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14600" y="932688"/>
            <a:ext cx="1965960" cy="502920"/>
          </a:xfrm>
          <a:prstGeom prst="rect">
            <a:avLst/>
          </a:prstGeom>
          <a:solidFill>
            <a:srgbClr val="0B1F4B"/>
          </a:solidFill>
          <a:ln w="7620">
            <a:solidFill>
              <a:srgbClr val="1BA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87752" y="96926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87752" y="12070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97764" y="2308861"/>
            <a:ext cx="1965960" cy="502920"/>
          </a:xfrm>
          <a:prstGeom prst="rect">
            <a:avLst/>
          </a:prstGeom>
          <a:solidFill>
            <a:srgbClr val="0B1F4B"/>
          </a:solidFill>
          <a:ln w="7620">
            <a:solidFill>
              <a:srgbClr val="1BA8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" y="234433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6344" y="25740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14600" y="2306574"/>
            <a:ext cx="1965960" cy="502920"/>
          </a:xfrm>
          <a:prstGeom prst="rect">
            <a:avLst/>
          </a:prstGeom>
          <a:solidFill>
            <a:srgbClr val="0B1F4B"/>
          </a:solidFill>
          <a:ln w="7620">
            <a:solidFill>
              <a:srgbClr val="1BA8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87752" y="232486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76922" y="2587751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Plotting engine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1618488"/>
            <a:ext cx="1965960" cy="502920"/>
          </a:xfrm>
          <a:prstGeom prst="rect">
            <a:avLst/>
          </a:prstGeom>
          <a:solidFill>
            <a:srgbClr val="0B1F4B"/>
          </a:solidFill>
          <a:ln w="7620">
            <a:solidFill>
              <a:srgbClr val="1BA8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165506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" y="18928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14600" y="1618488"/>
            <a:ext cx="1965960" cy="502920"/>
          </a:xfrm>
          <a:prstGeom prst="rect">
            <a:avLst/>
          </a:prstGeom>
          <a:solidFill>
            <a:srgbClr val="0B1F4B"/>
          </a:solidFill>
          <a:ln w="7620">
            <a:solidFill>
              <a:srgbClr val="1BA8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87752" y="165506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587752" y="18928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97764" y="3012948"/>
            <a:ext cx="1965960" cy="502920"/>
          </a:xfrm>
          <a:prstGeom prst="rect">
            <a:avLst/>
          </a:prstGeom>
          <a:solidFill>
            <a:srgbClr val="0B1F4B"/>
          </a:solidFill>
          <a:ln w="7620">
            <a:solidFill>
              <a:srgbClr val="1BA8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" y="3012397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6344" y="3273551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111498" y="916443"/>
            <a:ext cx="3474720" cy="3520440"/>
          </a:xfrm>
          <a:prstGeom prst="rect">
            <a:avLst/>
          </a:prstGeom>
          <a:solidFill>
            <a:srgbClr val="0B1F4B"/>
          </a:solidFill>
          <a:ln w="635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394960" y="10241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MiniProject/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94960" y="13898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README.md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394960" y="17556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requirements.txt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394960" y="21214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dataset/raw_data/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394960" y="2487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dataset/processed_data/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394960" y="28529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notebooks/  [3 ipynb files]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394960" y="32186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src/  [preprocessing, analysis, model]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94960" y="35844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outputs/graphs/  [9 PNG charts]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394960" y="3950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outputs/results/  [model_results.json]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5486400" cy="5486400"/>
          </a:xfrm>
          <a:prstGeom prst="ellipse">
            <a:avLst/>
          </a:prstGeom>
          <a:solidFill>
            <a:srgbClr val="1BA8A0">
              <a:alpha val="12000"/>
            </a:srgbClr>
          </a:solidFill>
          <a:ln w="12700">
            <a:solidFill>
              <a:srgbClr val="1BA8A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54864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3774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Scope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Global temperature has risen +1.1°C since 1880, with rapid acceleration after 1980.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CO₂ concentration and temperature show near-perfect positive correlation (r = 0.97).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048256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38 extreme anomaly years detected; 95% occurred post-1980.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615184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Polynomial regression (R²=0.95) accurately models the warming trend.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182112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Forecast: +1.6–2.0°C anomaly expected by 2044 under current trajectory.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886968"/>
            <a:ext cx="2926080" cy="3703320"/>
          </a:xfrm>
          <a:prstGeom prst="rect">
            <a:avLst/>
          </a:prstGeom>
          <a:solidFill>
            <a:srgbClr val="1A4A7A"/>
          </a:solidFill>
          <a:ln w="635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60720" y="886968"/>
            <a:ext cx="292608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70448" y="10058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70448" y="148132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LSTM / Time-Series deep learning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70448" y="204825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Include sea-level &amp; ice-melt data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70448" y="261518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Region-wise climate analysis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70448" y="318211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Interactive Streamlit dashboard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70448" y="374904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Real-time NASA API data pipeline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48737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16780-89D6-0213-F1CD-955B3BC9C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A7AEE29-BF5F-68DA-BACA-262EA760950D}"/>
              </a:ext>
            </a:extLst>
          </p:cNvPr>
          <p:cNvSpPr/>
          <p:nvPr/>
        </p:nvSpPr>
        <p:spPr>
          <a:xfrm>
            <a:off x="0" y="1238655"/>
            <a:ext cx="3949430" cy="3813243"/>
          </a:xfrm>
          <a:prstGeom prst="ellipse">
            <a:avLst/>
          </a:prstGeom>
          <a:solidFill>
            <a:srgbClr val="1BA8A0">
              <a:alpha val="12000"/>
            </a:srgbClr>
          </a:solidFill>
          <a:ln w="12700">
            <a:solidFill>
              <a:srgbClr val="1BA8A0">
                <a:alpha val="15000"/>
              </a:srgbClr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B2ECD4D-6CC1-E0E8-91CE-BD1B785BCF39}"/>
              </a:ext>
            </a:extLst>
          </p:cNvPr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A8A0"/>
          </a:solidFill>
          <a:ln w="12700">
            <a:solidFill>
              <a:srgbClr val="1BA8A0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56DE902-D6F0-4E93-05CF-0E9F2035FB07}"/>
              </a:ext>
            </a:extLst>
          </p:cNvPr>
          <p:cNvSpPr/>
          <p:nvPr/>
        </p:nvSpPr>
        <p:spPr>
          <a:xfrm>
            <a:off x="0" y="48737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90E8DA-F533-AEA4-C743-5D9BAC055B6B}"/>
              </a:ext>
            </a:extLst>
          </p:cNvPr>
          <p:cNvSpPr txBox="1"/>
          <p:nvPr/>
        </p:nvSpPr>
        <p:spPr>
          <a:xfrm>
            <a:off x="2464340" y="2248584"/>
            <a:ext cx="4215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2"/>
                </a:solidFill>
              </a:rPr>
              <a:t>THANK YOU!</a:t>
            </a:r>
            <a:endParaRPr lang="en-IN" sz="3600" dirty="0">
              <a:solidFill>
                <a:schemeClr val="bg2"/>
              </a:solidFill>
            </a:endParaRPr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BBB8215D-A182-5F2B-3558-7373A658F19C}"/>
              </a:ext>
            </a:extLst>
          </p:cNvPr>
          <p:cNvSpPr/>
          <p:nvPr/>
        </p:nvSpPr>
        <p:spPr>
          <a:xfrm>
            <a:off x="7444900" y="-245267"/>
            <a:ext cx="1932563" cy="1825558"/>
          </a:xfrm>
          <a:prstGeom prst="ellipse">
            <a:avLst/>
          </a:prstGeom>
          <a:solidFill>
            <a:srgbClr val="1BA8A0">
              <a:alpha val="12000"/>
            </a:srgbClr>
          </a:solidFill>
          <a:ln w="12700">
            <a:solidFill>
              <a:srgbClr val="1BA8A0">
                <a:alpha val="1500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710872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796</Words>
  <Application>Microsoft Office PowerPoint</Application>
  <PresentationFormat>On-screen Show (16:9)</PresentationFormat>
  <Paragraphs>176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ClimateTrend Analyzer</dc:title>
  <dc:subject>PptxGenJS Presentation</dc:subject>
  <dc:creator>CSE AIML Student</dc:creator>
  <cp:lastModifiedBy>Laxmi Priya T M</cp:lastModifiedBy>
  <cp:revision>3</cp:revision>
  <dcterms:created xsi:type="dcterms:W3CDTF">2026-04-04T08:58:41Z</dcterms:created>
  <dcterms:modified xsi:type="dcterms:W3CDTF">2026-04-06T16:53:09Z</dcterms:modified>
</cp:coreProperties>
</file>